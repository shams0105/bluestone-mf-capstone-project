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D5706-79F5-4BF4-B4C9-FC2C6D4FC92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A5122-843A-42B6-B6AE-0BCBE2C83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691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A5122-843A-42B6-B6AE-0BCBE2C8322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34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4FF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Bef>
                <a:spcPts val="1500"/>
              </a:spcBef>
              <a:defRPr sz="1800">
                <a:solidFill>
                  <a:srgbClr val="00D28C"/>
                </a:solidFill>
                <a:latin typeface="Arial"/>
              </a:defRPr>
            </a:pPr>
            <a:r>
              <a:t>Bluestock Fintech Capstone Project | June 2026</a:t>
            </a:r>
          </a:p>
          <a:p>
            <a:pPr>
              <a:spcBef>
                <a:spcPts val="1000"/>
              </a:spcBef>
              <a:defRPr sz="1400">
                <a:solidFill>
                  <a:srgbClr val="96A5BE"/>
                </a:solidFill>
                <a:latin typeface="Arial"/>
              </a:defRPr>
            </a:pPr>
            <a:r>
              <a:t>End-to-End Data Engineering: ETL Pipeline + Normalised SQLite + Power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3048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Core Problem Statements &amp; 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90FF"/>
                </a:solidFill>
              </a:defRPr>
            </a:pPr>
            <a:r>
              <a:rPr sz="1600" dirty="0"/>
              <a:t>THE 5 CORE CHALLENGES:</a:t>
            </a:r>
          </a:p>
          <a:p>
            <a:pPr>
              <a:spcBef>
                <a:spcPts val="800"/>
              </a:spcBef>
              <a:defRPr sz="1200" b="1">
                <a:solidFill>
                  <a:srgbClr val="F0F4FF"/>
                </a:solidFill>
              </a:defRPr>
            </a:pPr>
            <a:r>
              <a:rPr sz="1600" dirty="0"/>
              <a:t>• Data Fragmentation: </a:t>
            </a:r>
            <a:r>
              <a:rPr sz="1600" b="0" dirty="0">
                <a:solidFill>
                  <a:srgbClr val="96A5BE"/>
                </a:solidFill>
              </a:rPr>
              <a:t>NAV history, masters, and market indexes scattered across unlinked web APIs and legacy files.</a:t>
            </a:r>
          </a:p>
          <a:p>
            <a:pPr>
              <a:spcBef>
                <a:spcPts val="800"/>
              </a:spcBef>
              <a:defRPr sz="1200" b="1">
                <a:solidFill>
                  <a:srgbClr val="F0F4FF"/>
                </a:solidFill>
              </a:defRPr>
            </a:pPr>
            <a:r>
              <a:rPr sz="1600" dirty="0"/>
              <a:t>• Performance Comparison Gap: </a:t>
            </a:r>
            <a:r>
              <a:rPr sz="1600" b="0" dirty="0">
                <a:solidFill>
                  <a:srgbClr val="96A5BE"/>
                </a:solidFill>
              </a:rPr>
              <a:t>Absence of automated risk-return compute models for cross-scheme evaluation.</a:t>
            </a:r>
          </a:p>
          <a:p>
            <a:pPr>
              <a:spcBef>
                <a:spcPts val="800"/>
              </a:spcBef>
              <a:defRPr sz="1200" b="1">
                <a:solidFill>
                  <a:srgbClr val="F0F4FF"/>
                </a:solidFill>
              </a:defRPr>
            </a:pPr>
            <a:r>
              <a:rPr sz="1600" dirty="0"/>
              <a:t>• No Benchmark Tracking: </a:t>
            </a:r>
            <a:r>
              <a:rPr sz="1600" b="0" dirty="0">
                <a:solidFill>
                  <a:srgbClr val="96A5BE"/>
                </a:solidFill>
              </a:rPr>
              <a:t>No modern programmatic way to check alpha generation against active Nifty indices.</a:t>
            </a:r>
          </a:p>
          <a:p>
            <a:pPr>
              <a:spcBef>
                <a:spcPts val="800"/>
              </a:spcBef>
              <a:defRPr sz="1200" b="1">
                <a:solidFill>
                  <a:srgbClr val="F0F4FF"/>
                </a:solidFill>
              </a:defRPr>
            </a:pPr>
            <a:r>
              <a:rPr sz="1600" dirty="0"/>
              <a:t>• Investor </a:t>
            </a:r>
            <a:r>
              <a:rPr sz="1600" dirty="0" err="1"/>
              <a:t>Behaviour</a:t>
            </a:r>
            <a:r>
              <a:rPr sz="1600" dirty="0"/>
              <a:t> Blind Spot: </a:t>
            </a:r>
            <a:r>
              <a:rPr sz="1600" b="0" dirty="0">
                <a:solidFill>
                  <a:srgbClr val="96A5BE"/>
                </a:solidFill>
              </a:rPr>
              <a:t>Inability to analyze cohort retention and spot continuous vs irregular SIP patterns.</a:t>
            </a:r>
          </a:p>
          <a:p>
            <a:pPr>
              <a:spcBef>
                <a:spcPts val="800"/>
              </a:spcBef>
              <a:defRPr sz="1200" b="1">
                <a:solidFill>
                  <a:srgbClr val="F0F4FF"/>
                </a:solidFill>
              </a:defRPr>
            </a:pPr>
            <a:r>
              <a:rPr sz="1600" dirty="0"/>
              <a:t>• Slow Reporting Loops: </a:t>
            </a:r>
            <a:r>
              <a:rPr sz="1600" b="0" dirty="0">
                <a:solidFill>
                  <a:srgbClr val="96A5BE"/>
                </a:solidFill>
              </a:rPr>
              <a:t>Heavy manual data preparation delaying automated dashboard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8C"/>
                </a:solidFill>
              </a:defRPr>
            </a:pPr>
            <a:r>
              <a:rPr sz="1600" dirty="0"/>
              <a:t>PROJECT OBJECTIVE:</a:t>
            </a:r>
          </a:p>
          <a:p>
            <a:pPr>
              <a:spcBef>
                <a:spcPts val="1000"/>
              </a:spcBef>
              <a:defRPr sz="1300">
                <a:solidFill>
                  <a:srgbClr val="F0F4FF"/>
                </a:solidFill>
              </a:defRPr>
            </a:pPr>
            <a:r>
              <a:rPr sz="1600" dirty="0"/>
              <a:t>Build a comprehensive, unified data analytics engineering platform that programmatically tracks, normalizes, analyzes, and visualizes 40 active mutual fund schemes.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The system enables investment analysts and retail users to uncover automated, data-driven fund insights, risk profiles, and geographic transaction distributions using optimized data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Data Ingestion &amp; Dataset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2280" y="1325007"/>
            <a:ext cx="10972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8C"/>
                </a:solidFill>
              </a:defRPr>
            </a:pPr>
            <a:r>
              <a:rPr sz="2000" dirty="0"/>
              <a:t>INGESTED VOLUME Overview: 10 Core Datasets | 87,000+ Total Cleaned Rows | 4.5 Years NAV History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AMFI India &amp; mfapi.in API — </a:t>
            </a:r>
            <a:r>
              <a:rPr sz="2000" b="0" dirty="0">
                <a:solidFill>
                  <a:srgbClr val="96A5BE"/>
                </a:solidFill>
              </a:rPr>
              <a:t>Primary sources for multi-year historical NAV data streams and programmatic scheme masters.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NSE / BSE Market Indexes — </a:t>
            </a:r>
            <a:r>
              <a:rPr sz="2000" b="0" dirty="0">
                <a:solidFill>
                  <a:srgbClr val="96A5BE"/>
                </a:solidFill>
              </a:rPr>
              <a:t>Benchmark baseline datasets utilized to dynamically compute alpha metrics and relative index correlation.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fund_master</a:t>
            </a:r>
            <a:r>
              <a:rPr sz="2000" dirty="0"/>
              <a:t> (40 rows) — </a:t>
            </a:r>
            <a:r>
              <a:rPr sz="2000" b="0" dirty="0">
                <a:solidFill>
                  <a:srgbClr val="96A5BE"/>
                </a:solidFill>
              </a:rPr>
              <a:t>Primary lookup dimension containing absolute metadata, asset categorization, and scheme specifications.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nav_history</a:t>
            </a:r>
            <a:r>
              <a:rPr sz="2000" dirty="0"/>
              <a:t> (46,000+ rows) — </a:t>
            </a:r>
            <a:r>
              <a:rPr sz="2000" b="0" dirty="0">
                <a:solidFill>
                  <a:srgbClr val="96A5BE"/>
                </a:solidFill>
              </a:rPr>
              <a:t>Dense time-series table tracking daily net asset value fluctuations across 4.5 chronological financial years.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investor_transactions</a:t>
            </a:r>
            <a:r>
              <a:rPr sz="2000" dirty="0"/>
              <a:t> (32,778 rows) — </a:t>
            </a:r>
            <a:r>
              <a:rPr sz="2000" b="0" dirty="0">
                <a:solidFill>
                  <a:srgbClr val="96A5BE"/>
                </a:solidFill>
              </a:rPr>
              <a:t>Granular ledger captures localized transaction types, timestamps, payment gateway methods, and age groups.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benchmark_indices</a:t>
            </a:r>
            <a:r>
              <a:rPr sz="2000" dirty="0"/>
              <a:t> (8,050 rows) — </a:t>
            </a:r>
            <a:r>
              <a:rPr sz="2000" b="0" dirty="0">
                <a:solidFill>
                  <a:srgbClr val="96A5BE"/>
                </a:solidFill>
              </a:rPr>
              <a:t>Cleaned historical index milestones utilized as the performance standard for active return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The 5-Layer End-to-End ETL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740" y="1425773"/>
            <a:ext cx="10972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90FF"/>
                </a:solidFill>
              </a:defRPr>
            </a:pPr>
            <a:r>
              <a:rPr sz="2000" dirty="0"/>
              <a:t>Layer 1: EXTRACT: </a:t>
            </a:r>
            <a:r>
              <a:rPr sz="2000" b="0" dirty="0">
                <a:solidFill>
                  <a:srgbClr val="F0F4FF"/>
                </a:solidFill>
              </a:rPr>
              <a:t>Programmatic ingestion of raw CSV structures from AMFI India alongside automated live REST API endpoint loops utilizing Python requests libraries directly targeting mfapi.in for real-time validation tracking.</a:t>
            </a:r>
          </a:p>
          <a:p>
            <a:pPr>
              <a:spcBef>
                <a:spcPts val="1200"/>
              </a:spcBef>
              <a:defRPr sz="1200" b="1">
                <a:solidFill>
                  <a:srgbClr val="1E90FF"/>
                </a:solidFill>
              </a:defRPr>
            </a:pPr>
            <a:r>
              <a:rPr sz="2000" dirty="0"/>
              <a:t>Layer 2: TRANSFORM: </a:t>
            </a:r>
            <a:r>
              <a:rPr sz="2000" b="0" dirty="0">
                <a:solidFill>
                  <a:srgbClr val="F0F4FF"/>
                </a:solidFill>
              </a:rPr>
              <a:t>Robust downstream data cleaning routines executed inside Pandas. Standardizes dates, runs strategic forward-fills ('</a:t>
            </a:r>
            <a:r>
              <a:rPr sz="2000" b="0" dirty="0" err="1">
                <a:solidFill>
                  <a:srgbClr val="F0F4FF"/>
                </a:solidFill>
              </a:rPr>
              <a:t>ffill</a:t>
            </a:r>
            <a:r>
              <a:rPr sz="2000" b="0" dirty="0">
                <a:solidFill>
                  <a:srgbClr val="F0F4FF"/>
                </a:solidFill>
              </a:rPr>
              <a:t>') across commercial market holidays or weekends, strips duplication, and applies structural constraint filters.</a:t>
            </a:r>
          </a:p>
          <a:p>
            <a:pPr>
              <a:spcBef>
                <a:spcPts val="1200"/>
              </a:spcBef>
              <a:defRPr sz="1200" b="1">
                <a:solidFill>
                  <a:srgbClr val="1E90FF"/>
                </a:solidFill>
              </a:defRPr>
            </a:pPr>
            <a:r>
              <a:rPr sz="2000" dirty="0"/>
              <a:t>Layer 3: LOAD: </a:t>
            </a:r>
            <a:r>
              <a:rPr sz="2000" b="0" dirty="0">
                <a:solidFill>
                  <a:srgbClr val="F0F4FF"/>
                </a:solidFill>
              </a:rPr>
              <a:t>Automated deployment into a highly normalized local SQLite relational container database. Maps out 10 structured target tables via </a:t>
            </a:r>
            <a:r>
              <a:rPr sz="2000" b="0" dirty="0" err="1">
                <a:solidFill>
                  <a:srgbClr val="F0F4FF"/>
                </a:solidFill>
              </a:rPr>
              <a:t>SQLAlchemy</a:t>
            </a:r>
            <a:r>
              <a:rPr sz="2000" b="0" dirty="0">
                <a:solidFill>
                  <a:srgbClr val="F0F4FF"/>
                </a:solidFill>
              </a:rPr>
              <a:t> bindings, exporting structural layout footprints to '</a:t>
            </a:r>
            <a:r>
              <a:rPr sz="2000" b="0" dirty="0" err="1">
                <a:solidFill>
                  <a:srgbClr val="F0F4FF"/>
                </a:solidFill>
              </a:rPr>
              <a:t>schema.sql</a:t>
            </a:r>
            <a:r>
              <a:rPr sz="2000" b="0" dirty="0">
                <a:solidFill>
                  <a:srgbClr val="F0F4FF"/>
                </a:solidFill>
              </a:rPr>
              <a:t>' configurations.</a:t>
            </a:r>
          </a:p>
          <a:p>
            <a:pPr>
              <a:spcBef>
                <a:spcPts val="1200"/>
              </a:spcBef>
              <a:defRPr sz="1200" b="1">
                <a:solidFill>
                  <a:srgbClr val="1E90FF"/>
                </a:solidFill>
              </a:defRPr>
            </a:pPr>
            <a:r>
              <a:rPr sz="2000" dirty="0"/>
              <a:t>Layer 4: ANALYSE: </a:t>
            </a:r>
            <a:r>
              <a:rPr sz="2000" b="0" dirty="0">
                <a:solidFill>
                  <a:srgbClr val="F0F4FF"/>
                </a:solidFill>
              </a:rPr>
              <a:t>Deep performance computing layers managed within specialized </a:t>
            </a:r>
            <a:r>
              <a:rPr sz="2000" b="0" dirty="0" err="1">
                <a:solidFill>
                  <a:srgbClr val="F0F4FF"/>
                </a:solidFill>
              </a:rPr>
              <a:t>Jupyter</a:t>
            </a:r>
            <a:r>
              <a:rPr sz="2000" b="0" dirty="0">
                <a:solidFill>
                  <a:srgbClr val="F0F4FF"/>
                </a:solidFill>
              </a:rPr>
              <a:t> Notebook setups. Formulates compound indicators, risk statistics, multi-variable correlation grids, and mathematical risk-adjusted scores.</a:t>
            </a:r>
          </a:p>
          <a:p>
            <a:pPr>
              <a:spcBef>
                <a:spcPts val="1200"/>
              </a:spcBef>
              <a:defRPr sz="1200" b="1">
                <a:solidFill>
                  <a:srgbClr val="1E90FF"/>
                </a:solidFill>
              </a:defRPr>
            </a:pPr>
            <a:r>
              <a:rPr sz="2000" dirty="0"/>
              <a:t>Layer 5: VISUALISE: </a:t>
            </a:r>
            <a:r>
              <a:rPr sz="2000" b="0" dirty="0">
                <a:solidFill>
                  <a:srgbClr val="F0F4FF"/>
                </a:solidFill>
              </a:rPr>
              <a:t>Enterprise delivery via an advanced multi-page Power BI dashboard environment, binding historical database connections with zero-latency visual slices and filtering panes.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/>
              <a:t>Exploratory Data Analysis (EDA) — Market Macro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2561"/>
            <a:ext cx="1097280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8C"/>
                </a:solidFill>
              </a:defRPr>
            </a:pPr>
            <a:r>
              <a:rPr sz="2000" dirty="0"/>
              <a:t>• 169% Exponential SIP Scale: </a:t>
            </a:r>
            <a:r>
              <a:rPr sz="2000" b="0" dirty="0">
                <a:solidFill>
                  <a:srgbClr val="F0F4FF"/>
                </a:solidFill>
              </a:rPr>
              <a:t>Monthly aggregate retail SIP contributions scaled up rapidly by 169%, pacing forward from </a:t>
            </a:r>
            <a:r>
              <a:rPr sz="2000" b="0" dirty="0" err="1">
                <a:solidFill>
                  <a:srgbClr val="F0F4FF"/>
                </a:solidFill>
              </a:rPr>
              <a:t>Rs</a:t>
            </a:r>
            <a:r>
              <a:rPr sz="2000" b="0" dirty="0">
                <a:solidFill>
                  <a:srgbClr val="F0F4FF"/>
                </a:solidFill>
              </a:rPr>
              <a:t>. 11,517 Crore in January 2022 to register an ultimate record all-time high tracking at </a:t>
            </a:r>
            <a:r>
              <a:rPr sz="2000" b="0" dirty="0" err="1">
                <a:solidFill>
                  <a:srgbClr val="F0F4FF"/>
                </a:solidFill>
              </a:rPr>
              <a:t>Rs</a:t>
            </a:r>
            <a:r>
              <a:rPr sz="2000" b="0" dirty="0">
                <a:solidFill>
                  <a:srgbClr val="F0F4FF"/>
                </a:solidFill>
              </a:rPr>
              <a:t>. 31,002 Crore by December 2025.</a:t>
            </a:r>
          </a:p>
          <a:p>
            <a:pPr>
              <a:spcBef>
                <a:spcPts val="1500"/>
              </a:spcBef>
              <a:defRPr sz="1300" b="1">
                <a:solidFill>
                  <a:srgbClr val="00D28C"/>
                </a:solidFill>
              </a:defRPr>
            </a:pPr>
            <a:r>
              <a:rPr sz="2000" dirty="0"/>
              <a:t>• Industry Leader Domain: </a:t>
            </a:r>
            <a:r>
              <a:rPr sz="2000" b="0" dirty="0">
                <a:solidFill>
                  <a:srgbClr val="F0F4FF"/>
                </a:solidFill>
              </a:rPr>
              <a:t>SBI Mutual Fund commands dominant positioning among tracked institutional counterparts, capturing the leading volume threshold with a total calculated valuation baseline of </a:t>
            </a:r>
            <a:r>
              <a:rPr sz="2000" b="0" dirty="0" err="1">
                <a:solidFill>
                  <a:srgbClr val="F0F4FF"/>
                </a:solidFill>
              </a:rPr>
              <a:t>Rs</a:t>
            </a:r>
            <a:r>
              <a:rPr sz="2000" b="0" dirty="0">
                <a:solidFill>
                  <a:srgbClr val="F0F4FF"/>
                </a:solidFill>
              </a:rPr>
              <a:t>. 12.5 Lakh Crore AUM.</a:t>
            </a:r>
          </a:p>
          <a:p>
            <a:pPr>
              <a:spcBef>
                <a:spcPts val="1500"/>
              </a:spcBef>
              <a:defRPr sz="1300" b="1">
                <a:solidFill>
                  <a:srgbClr val="00D28C"/>
                </a:solidFill>
              </a:defRPr>
            </a:pPr>
            <a:r>
              <a:rPr sz="2000" dirty="0"/>
              <a:t>• 2x Folio Account Expansion: </a:t>
            </a:r>
            <a:r>
              <a:rPr sz="2000" b="0" dirty="0">
                <a:solidFill>
                  <a:srgbClr val="F0F4FF"/>
                </a:solidFill>
              </a:rPr>
              <a:t>The macro ecosystem successfully doubled consumer participation. Total registered active Mutual Fund folios scaled sequentially upward from 13.26 Crore entries to close at 26.12 Crore accounts.</a:t>
            </a:r>
          </a:p>
          <a:p>
            <a:pPr>
              <a:spcBef>
                <a:spcPts val="1500"/>
              </a:spcBef>
              <a:defRPr sz="1300" b="1">
                <a:solidFill>
                  <a:srgbClr val="00D28C"/>
                </a:solidFill>
              </a:defRPr>
            </a:pPr>
            <a:r>
              <a:rPr sz="2000" dirty="0"/>
              <a:t>• T30 Geographical Consolidation: </a:t>
            </a:r>
            <a:r>
              <a:rPr sz="2000" b="0" dirty="0">
                <a:solidFill>
                  <a:srgbClr val="F0F4FF"/>
                </a:solidFill>
              </a:rPr>
              <a:t>Geographic volume signals intense regional concentration. Top-30 urban cities (T30) alone generated 80%+ of total transactional pipeline valuation value across historical ledger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Exploratory Data Analysis (EDA) — Demographics &amp;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0820"/>
            <a:ext cx="10972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F"/>
                </a:solidFill>
              </a:defRPr>
            </a:pPr>
            <a:r>
              <a:rPr sz="2000" dirty="0"/>
              <a:t>• Dominant Age Demographic: </a:t>
            </a:r>
            <a:r>
              <a:rPr sz="2000" b="0" dirty="0">
                <a:solidFill>
                  <a:srgbClr val="96A5BE"/>
                </a:solidFill>
              </a:rPr>
              <a:t>The millennial and early career bracket spanning the 26–35 age group represents the core driver of modern systematic investment plans, representing the highest investment count contribution.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UPI Preferred Gateway: </a:t>
            </a:r>
            <a:r>
              <a:rPr sz="2000" b="0" dirty="0">
                <a:solidFill>
                  <a:srgbClr val="96A5BE"/>
                </a:solidFill>
              </a:rPr>
              <a:t>Unified Payments Interface (UPI) captures top rank position as the definitive transactional routing utility, eclipsing traditional web-banking options in velocity and continuous volume usage.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Large-Cap Co-Movement: </a:t>
            </a:r>
            <a:r>
              <a:rPr sz="2000" b="0" dirty="0">
                <a:solidFill>
                  <a:srgbClr val="96A5BE"/>
                </a:solidFill>
              </a:rPr>
              <a:t>Statistical correlation computations uncover intense co-movement markers among primary Large Cap funds, reliably generating tight peer correlation coefficients higher than 0.85.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Strategic Sector Concentrations: </a:t>
            </a:r>
            <a:r>
              <a:rPr sz="2000" b="0" dirty="0">
                <a:solidFill>
                  <a:srgbClr val="96A5BE"/>
                </a:solidFill>
              </a:rPr>
              <a:t>Sector distribution profiling indicates heavy underlying capital allocation targeting Financial Services and Information Technology sectors across the top 40 schemes.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Visualization Scope: </a:t>
            </a:r>
            <a:r>
              <a:rPr sz="2000" b="0" dirty="0">
                <a:solidFill>
                  <a:srgbClr val="96A5BE"/>
                </a:solidFill>
              </a:rPr>
              <a:t>Over 15 custom charts were synthesized during analytical preparation mapping sector allocations, asset weight distributions, and transactional demographic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Performance Analytics Framework — Risk-Return Computations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8420"/>
            <a:ext cx="10972800" cy="3870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90FF"/>
                </a:solidFill>
              </a:defRPr>
            </a:pPr>
            <a:r>
              <a:rPr sz="1600" dirty="0"/>
              <a:t>MATHEMATICAL FORMULATIONS &amp; LOGIC:</a:t>
            </a:r>
          </a:p>
          <a:p>
            <a:pPr>
              <a:spcBef>
                <a:spcPts val="800"/>
              </a:spcBef>
              <a:defRPr sz="1100">
                <a:solidFill>
                  <a:srgbClr val="F0F4FF"/>
                </a:solidFill>
              </a:defRPr>
            </a:pPr>
            <a:r>
              <a:rPr sz="1600" dirty="0"/>
              <a:t>1. Compounded Annual Growth Rate (CAGR) Model:</a:t>
            </a:r>
            <a:br>
              <a:rPr sz="1600" dirty="0"/>
            </a:br>
            <a:r>
              <a:rPr sz="1600" dirty="0"/>
              <a:t>   Annualized returns calculated strictly over 1-Year, 3-Year, and 5-Year horizons leveraging a standardized baseline of 252 active market trading days per calendar cycle.</a:t>
            </a:r>
          </a:p>
          <a:p>
            <a:pPr>
              <a:spcBef>
                <a:spcPts val="1000"/>
              </a:spcBef>
              <a:defRPr sz="1100">
                <a:solidFill>
                  <a:srgbClr val="F0F4FF"/>
                </a:solidFill>
              </a:defRPr>
            </a:pPr>
            <a:r>
              <a:rPr sz="1600" dirty="0"/>
              <a:t>2. Sharpe Ratio Optimization Standard:</a:t>
            </a:r>
            <a:br>
              <a:rPr sz="1600" dirty="0"/>
            </a:br>
            <a:r>
              <a:rPr sz="1600" dirty="0"/>
              <a:t>   Sharpe = (</a:t>
            </a:r>
            <a:r>
              <a:rPr sz="1600" dirty="0" err="1"/>
              <a:t>Rp</a:t>
            </a:r>
            <a:r>
              <a:rPr sz="1600" dirty="0"/>
              <a:t> - </a:t>
            </a:r>
            <a:r>
              <a:rPr sz="1600" dirty="0" err="1"/>
              <a:t>Rf</a:t>
            </a:r>
            <a:r>
              <a:rPr sz="1600" dirty="0"/>
              <a:t>) / Standard Deviation * </a:t>
            </a:r>
            <a:r>
              <a:rPr sz="1600" dirty="0" err="1"/>
              <a:t>sqrt</a:t>
            </a:r>
            <a:r>
              <a:rPr sz="1600" dirty="0"/>
              <a:t>(252)</a:t>
            </a:r>
            <a:br>
              <a:rPr sz="1600" dirty="0"/>
            </a:br>
            <a:r>
              <a:rPr sz="1600" dirty="0"/>
              <a:t>   Defines risk-adjusted premium. The benchmark risk-free baseline rate is locked at 6.50% (derived from the current RBI Repo Rate metrics).</a:t>
            </a:r>
          </a:p>
          <a:p>
            <a:pPr>
              <a:spcBef>
                <a:spcPts val="1500"/>
              </a:spcBef>
              <a:defRPr sz="1300" b="1">
                <a:solidFill>
                  <a:srgbClr val="00D28C"/>
                </a:solidFill>
              </a:defRPr>
            </a:pPr>
            <a:r>
              <a:rPr sz="1600" dirty="0"/>
              <a:t>OUTSTANDING OUTPERFORMERS DISCOVERED:</a:t>
            </a:r>
          </a:p>
          <a:p>
            <a:pPr>
              <a:spcBef>
                <a:spcPts val="600"/>
              </a:spcBef>
              <a:defRPr sz="1100">
                <a:solidFill>
                  <a:srgbClr val="F0F4FF"/>
                </a:solidFill>
              </a:defRPr>
            </a:pPr>
            <a:r>
              <a:rPr sz="1600" dirty="0"/>
              <a:t>• Absolute Risk-Adjusted Champion: </a:t>
            </a:r>
            <a:r>
              <a:rPr sz="1600" dirty="0" err="1"/>
              <a:t>Mirae</a:t>
            </a:r>
            <a:r>
              <a:rPr sz="1600" dirty="0"/>
              <a:t> Asset Large Cap Fund leads the entire database ecosystem by producing an exceptional Sharpe Ratio of 1.07. This establishes it as the mathematically ideal target option for risk-managed investor portfolios.</a:t>
            </a:r>
          </a:p>
          <a:p>
            <a:pPr>
              <a:spcBef>
                <a:spcPts val="600"/>
              </a:spcBef>
              <a:defRPr sz="1100">
                <a:solidFill>
                  <a:srgbClr val="F0F4FF"/>
                </a:solidFill>
              </a:defRPr>
            </a:pPr>
            <a:r>
              <a:rPr sz="1600" dirty="0"/>
              <a:t>• Compounded Velocity Leader: SBI </a:t>
            </a:r>
            <a:r>
              <a:rPr sz="1600" dirty="0" err="1"/>
              <a:t>Bluechip</a:t>
            </a:r>
            <a:r>
              <a:rPr sz="1600" dirty="0"/>
              <a:t> Fund recorded the absolute highest multi-year growth pace, logging an incredible 28.56% 3-Year CAGR, outperforming the major Nifty 100 benchmark index.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945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945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Quantitative Fund Scorecard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945" y="1645920"/>
            <a:ext cx="109728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90FF"/>
                </a:solidFill>
              </a:defRPr>
            </a:pPr>
            <a:r>
              <a:rPr sz="2000" dirty="0"/>
              <a:t>THE COMPOSITE SCORE ALGORITHM (Weighted Scale: 0 to 100):</a:t>
            </a:r>
          </a:p>
          <a:p>
            <a:pPr>
              <a:spcBef>
                <a:spcPts val="600"/>
              </a:spcBef>
              <a:defRPr sz="1100" b="1">
                <a:solidFill>
                  <a:srgbClr val="00D28C"/>
                </a:solidFill>
              </a:defRPr>
            </a:pPr>
            <a:r>
              <a:rPr sz="2000" dirty="0"/>
              <a:t>[30% * 3-Year Total Return] + [25% * Sharpe Metric] + [20% * Computed Alpha vs Index] + [15% * Inverse Expense Ratio Impact] + [10% * Inverse Maximum Drawdown Risk]</a:t>
            </a:r>
          </a:p>
          <a:p>
            <a:pPr>
              <a:spcBef>
                <a:spcPts val="15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Undisputed Portfolio Leader: </a:t>
            </a:r>
            <a:r>
              <a:rPr sz="2000" b="0" dirty="0">
                <a:solidFill>
                  <a:srgbClr val="96A5BE"/>
                </a:solidFill>
              </a:rPr>
              <a:t>HDFC Mid-Cap Opportunities Fund achieved a perfect Composite Score of 100/100, outperforming all 40 active comparison schemes. Performance metrics: 3-Year CAGR of 24.41%, custom Sharpe Ratio of 0.81, and a powerful alpha value scoring at 27.2%.</a:t>
            </a:r>
          </a:p>
          <a:p>
            <a:pPr>
              <a:spcBef>
                <a:spcPts val="15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Maximum Drawdown Risk Outlier: </a:t>
            </a:r>
            <a:r>
              <a:rPr sz="2000" b="0" dirty="0">
                <a:solidFill>
                  <a:srgbClr val="96A5BE"/>
                </a:solidFill>
              </a:rPr>
              <a:t>SBI Small Cap Fund represented the absolute worst asset volatility footprint during historical periods, capturing a maximum drawdown spike crashing to -52.57%. This warns analysts of significant single-year high-beta correction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Power BI Business Intelligence Dashboard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66827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8C"/>
                </a:solidFill>
              </a:defRPr>
            </a:pPr>
            <a:r>
              <a:rPr sz="2000" dirty="0"/>
              <a:t>CORE INTERACTIVE ARCHITECTURE: 4 Dedicated Operational Views | Minimum 2+ Global Slicer Panes Per Canvas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Page 1: Industry Overview — </a:t>
            </a:r>
            <a:r>
              <a:rPr sz="2000" b="0" dirty="0">
                <a:solidFill>
                  <a:srgbClr val="96A5BE"/>
                </a:solidFill>
              </a:rPr>
              <a:t>Houses immediate macro KPI cards detailing macro AUM baselines, transaction volumes, and interactive time-series tracking structural industry-wide growth curves.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Page 2: Fund Performance Analytics — </a:t>
            </a:r>
            <a:r>
              <a:rPr sz="2000" b="0" dirty="0">
                <a:solidFill>
                  <a:srgbClr val="96A5BE"/>
                </a:solidFill>
              </a:rPr>
              <a:t>Features dynamic risk-return scatter plots alongside a comprehensive sorted scorecard grid, empowering users to rank options against core alpha/beta benchmarks.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Page 3: Investor Demographics &amp; </a:t>
            </a:r>
            <a:r>
              <a:rPr sz="2000" dirty="0" err="1"/>
              <a:t>Behaviour</a:t>
            </a:r>
            <a:r>
              <a:rPr sz="2000" dirty="0"/>
              <a:t> — </a:t>
            </a:r>
            <a:r>
              <a:rPr sz="2000" b="0" dirty="0">
                <a:solidFill>
                  <a:srgbClr val="96A5BE"/>
                </a:solidFill>
              </a:rPr>
              <a:t>Maintains geographical state-by-state bar charts, payment channel donut counts, and nested age group volume buckets to track target user characteristics.</a:t>
            </a:r>
          </a:p>
          <a:p>
            <a:pPr>
              <a:spcBef>
                <a:spcPts val="1200"/>
              </a:spcBef>
              <a:defRPr sz="1200" b="1">
                <a:solidFill>
                  <a:srgbClr val="F0F4FF"/>
                </a:solidFill>
              </a:defRPr>
            </a:pPr>
            <a:r>
              <a:rPr sz="2000" dirty="0"/>
              <a:t>• Page 4: SIP &amp; Market Trend Matrix — </a:t>
            </a:r>
            <a:r>
              <a:rPr sz="2000" b="0" dirty="0">
                <a:solidFill>
                  <a:srgbClr val="96A5BE"/>
                </a:solidFill>
              </a:rPr>
              <a:t>Integrates multi-line time tracking plots and complex cross-tab matrices to isolate operational cash inflows, seasonality behaviors, and category volume splits.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Advanced </a:t>
            </a:r>
            <a:r>
              <a:rPr u="sng" dirty="0" err="1"/>
              <a:t>FinTech</a:t>
            </a:r>
            <a:r>
              <a:rPr u="sng" dirty="0"/>
              <a:t> Data Analytics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0020"/>
            <a:ext cx="109728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90FF"/>
                </a:solidFill>
              </a:defRPr>
            </a:pPr>
            <a:r>
              <a:rPr sz="2000" dirty="0"/>
              <a:t>• 95% Confidence Daily Value-at-Risk (</a:t>
            </a:r>
            <a:r>
              <a:rPr sz="2000" dirty="0" err="1"/>
              <a:t>VaR</a:t>
            </a:r>
            <a:r>
              <a:rPr sz="2000" dirty="0"/>
              <a:t>): </a:t>
            </a:r>
            <a:r>
              <a:rPr sz="2000" b="0" dirty="0">
                <a:solidFill>
                  <a:srgbClr val="F0F4FF"/>
                </a:solidFill>
              </a:rPr>
              <a:t>Aditya Birla Sun Life (ABSL) Small Cap Fund calculated the weakest historical single-day performance risk, logging a severe daily </a:t>
            </a:r>
            <a:r>
              <a:rPr sz="2000" b="0" dirty="0" err="1">
                <a:solidFill>
                  <a:srgbClr val="F0F4FF"/>
                </a:solidFill>
              </a:rPr>
              <a:t>VaR</a:t>
            </a:r>
            <a:r>
              <a:rPr sz="2000" b="0" dirty="0">
                <a:solidFill>
                  <a:srgbClr val="F0F4FF"/>
                </a:solidFill>
              </a:rPr>
              <a:t> of -2.39%. This confirms small-cap vehicles present intense downside vulnerability.</a:t>
            </a:r>
          </a:p>
          <a:p>
            <a:pPr>
              <a:spcBef>
                <a:spcPts val="1200"/>
              </a:spcBef>
              <a:defRPr sz="1200" b="1">
                <a:solidFill>
                  <a:srgbClr val="1E90FF"/>
                </a:solidFill>
              </a:defRPr>
            </a:pPr>
            <a:r>
              <a:rPr sz="2000" dirty="0"/>
              <a:t>• Transactional Cohort Retention Analysis: </a:t>
            </a:r>
            <a:r>
              <a:rPr sz="2000" b="0" dirty="0">
                <a:solidFill>
                  <a:srgbClr val="F0F4FF"/>
                </a:solidFill>
              </a:rPr>
              <a:t>The 2024 vintage investor cohort reflects absolute dominance across the database, representing a massive block of 4,803 active participants and </a:t>
            </a:r>
            <a:r>
              <a:rPr sz="2000" b="0" dirty="0" err="1">
                <a:solidFill>
                  <a:srgbClr val="F0F4FF"/>
                </a:solidFill>
              </a:rPr>
              <a:t>Rs</a:t>
            </a:r>
            <a:r>
              <a:rPr sz="2000" b="0" dirty="0">
                <a:solidFill>
                  <a:srgbClr val="F0F4FF"/>
                </a:solidFill>
              </a:rPr>
              <a:t>. 349 Crore total scale. Conversely, the 2025 cohort reveals trailing acquisition signals, highlighting immediate user onboarding challenges.</a:t>
            </a:r>
          </a:p>
          <a:p>
            <a:pPr>
              <a:spcBef>
                <a:spcPts val="1200"/>
              </a:spcBef>
              <a:defRPr sz="1200" b="1">
                <a:solidFill>
                  <a:srgbClr val="1E90FF"/>
                </a:solidFill>
              </a:defRPr>
            </a:pPr>
            <a:r>
              <a:rPr sz="2000" dirty="0"/>
              <a:t>• Systemic SIP Interruption Risk: </a:t>
            </a:r>
            <a:r>
              <a:rPr sz="2000" b="0" dirty="0">
                <a:solidFill>
                  <a:srgbClr val="F0F4FF"/>
                </a:solidFill>
              </a:rPr>
              <a:t>Data tracking reveals a major retention threat: 97.8% of long-term systematic plans display irregular investment timeline anomalies where payment delays exceed 35 days, requiring immediate programmatic alert systems.</a:t>
            </a:r>
          </a:p>
          <a:p>
            <a:pPr>
              <a:spcBef>
                <a:spcPts val="1200"/>
              </a:spcBef>
              <a:defRPr sz="1200" b="1">
                <a:solidFill>
                  <a:srgbClr val="1E90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Herfindahl</a:t>
            </a:r>
            <a:r>
              <a:rPr sz="2000" dirty="0"/>
              <a:t>-Hirschman Sector Concentration (HHI): </a:t>
            </a:r>
            <a:r>
              <a:rPr sz="2000" b="0" dirty="0">
                <a:solidFill>
                  <a:srgbClr val="F0F4FF"/>
                </a:solidFill>
              </a:rPr>
              <a:t>Axis </a:t>
            </a:r>
            <a:r>
              <a:rPr sz="2000" b="0" dirty="0" err="1">
                <a:solidFill>
                  <a:srgbClr val="F0F4FF"/>
                </a:solidFill>
              </a:rPr>
              <a:t>Bluechip</a:t>
            </a:r>
            <a:r>
              <a:rPr sz="2000" b="0" dirty="0">
                <a:solidFill>
                  <a:srgbClr val="F0F4FF"/>
                </a:solidFill>
              </a:rPr>
              <a:t> Fund functions as a highly concentrated portfolio asset (HHI score: 2968). In contrast, </a:t>
            </a:r>
            <a:r>
              <a:rPr sz="2000" b="0" dirty="0" err="1">
                <a:solidFill>
                  <a:srgbClr val="F0F4FF"/>
                </a:solidFill>
              </a:rPr>
              <a:t>Kotak</a:t>
            </a:r>
            <a:r>
              <a:rPr sz="2000" b="0" dirty="0">
                <a:solidFill>
                  <a:srgbClr val="F0F4FF"/>
                </a:solidFill>
              </a:rPr>
              <a:t> </a:t>
            </a:r>
            <a:r>
              <a:rPr sz="2000" b="0" dirty="0" err="1">
                <a:solidFill>
                  <a:srgbClr val="F0F4FF"/>
                </a:solidFill>
              </a:rPr>
              <a:t>Flexicap</a:t>
            </a:r>
            <a:r>
              <a:rPr sz="2000" b="0" dirty="0">
                <a:solidFill>
                  <a:srgbClr val="F0F4FF"/>
                </a:solidFill>
              </a:rPr>
              <a:t> Fund achieves optimal system diversification (HHI score: 1362), lowering correlation risk across multiple sectors.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90FF"/>
                </a:solidFill>
                <a:latin typeface="Arial"/>
              </a:defRPr>
            </a:pPr>
            <a: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F"/>
                </a:solidFill>
                <a:latin typeface="Arial"/>
              </a:defRPr>
            </a:pPr>
            <a:r>
              <a:rPr u="sng" dirty="0"/>
              <a:t>Strategic Data-Driven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1007"/>
            <a:ext cx="1097280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8C"/>
                </a:solidFill>
              </a:defRPr>
            </a:pPr>
            <a:r>
              <a:rPr sz="2000" dirty="0"/>
              <a:t>• Incorporate Algorithmic Scoring Tools: </a:t>
            </a:r>
            <a:r>
              <a:rPr sz="2000" b="0" dirty="0">
                <a:solidFill>
                  <a:srgbClr val="F0F4FF"/>
                </a:solidFill>
              </a:rPr>
              <a:t>Integrate the HDFC Mid-Cap style perfect quantitative calculation scorecard directly into customer UX journeys to replace manual analysis loops with automated ranking models.</a:t>
            </a:r>
          </a:p>
          <a:p>
            <a:pPr>
              <a:spcBef>
                <a:spcPts val="1500"/>
              </a:spcBef>
              <a:defRPr sz="1200" b="1">
                <a:solidFill>
                  <a:srgbClr val="00D28C"/>
                </a:solidFill>
              </a:defRPr>
            </a:pPr>
            <a:r>
              <a:rPr sz="2000" dirty="0"/>
              <a:t>• Deploy Proactive SIP Friction Interventions: </a:t>
            </a:r>
            <a:r>
              <a:rPr sz="2000" b="0" dirty="0">
                <a:solidFill>
                  <a:srgbClr val="F0F4FF"/>
                </a:solidFill>
              </a:rPr>
              <a:t>Given that 97.8% of users experience portfolio timeline breaks, engineer automated email/SMS reminder loops 5 days before active billing deadlines to preserve lifetime asset connectivity values.</a:t>
            </a:r>
          </a:p>
          <a:p>
            <a:pPr>
              <a:spcBef>
                <a:spcPts val="1500"/>
              </a:spcBef>
              <a:defRPr sz="1200" b="1">
                <a:solidFill>
                  <a:srgbClr val="00D28C"/>
                </a:solidFill>
              </a:defRPr>
            </a:pPr>
            <a:r>
              <a:rPr sz="2000" dirty="0"/>
              <a:t>• Implement Dynamic Downside Warnings: </a:t>
            </a:r>
            <a:r>
              <a:rPr sz="2000" b="0" dirty="0">
                <a:solidFill>
                  <a:srgbClr val="F0F4FF"/>
                </a:solidFill>
              </a:rPr>
              <a:t>Build real-time Value-at-Risk warning flags across small-cap product display feeds, restricting high-beta access to investors with aggressive risk-tolerance classifications.</a:t>
            </a:r>
          </a:p>
          <a:p>
            <a:pPr>
              <a:spcBef>
                <a:spcPts val="1500"/>
              </a:spcBef>
              <a:defRPr sz="1200" b="1">
                <a:solidFill>
                  <a:srgbClr val="00D28C"/>
                </a:solidFill>
              </a:defRPr>
            </a:pPr>
            <a:r>
              <a:rPr sz="2000" dirty="0"/>
              <a:t>• Accelerate Beyond-Top-30 (B30) Footprints: </a:t>
            </a:r>
            <a:r>
              <a:rPr sz="2000" b="0" dirty="0">
                <a:solidFill>
                  <a:srgbClr val="F0F4FF"/>
                </a:solidFill>
              </a:rPr>
              <a:t>Since 80%+ of transactions originate in mature T30 hubs, dedicate structural platform </a:t>
            </a:r>
            <a:r>
              <a:rPr sz="2000" b="0" dirty="0" err="1">
                <a:solidFill>
                  <a:srgbClr val="F0F4FF"/>
                </a:solidFill>
              </a:rPr>
              <a:t>regionalizations</a:t>
            </a:r>
            <a:r>
              <a:rPr sz="2000" b="0" dirty="0">
                <a:solidFill>
                  <a:srgbClr val="F0F4FF"/>
                </a:solidFill>
              </a:rPr>
              <a:t> and localization tools to unlock massive blue-ocean acquisition across underserved B30 locations.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050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0F4FF"/>
                </a:solidFill>
              </a:defRPr>
            </a:pPr>
            <a:r>
              <a:rPr u="sng" dirty="0"/>
              <a:t>Thank You!</a:t>
            </a:r>
          </a:p>
          <a:p>
            <a:pPr>
              <a:spcBef>
                <a:spcPts val="2000"/>
              </a:spcBef>
              <a:defRPr sz="1400">
                <a:solidFill>
                  <a:srgbClr val="1E90FF"/>
                </a:solidFill>
              </a:defRPr>
            </a:pPr>
            <a:r>
              <a:rPr sz="2000" dirty="0" err="1"/>
              <a:t>GitHub</a:t>
            </a:r>
            <a:r>
              <a:rPr sz="2000" dirty="0"/>
              <a:t> Repository: github.com/Shams0105/bluestone-mf-capstone-project</a:t>
            </a:r>
          </a:p>
          <a:p>
            <a:pPr>
              <a:spcBef>
                <a:spcPts val="1000"/>
              </a:spcBef>
              <a:defRPr sz="1400">
                <a:solidFill>
                  <a:srgbClr val="00D28C"/>
                </a:solidFill>
              </a:defRPr>
            </a:pPr>
            <a:r>
              <a:rPr sz="2000" dirty="0"/>
              <a:t>Core Architecture Stack: Python | SQL | Pandas | </a:t>
            </a:r>
            <a:r>
              <a:rPr sz="2000" dirty="0" err="1"/>
              <a:t>SQLAlchemy</a:t>
            </a:r>
            <a:r>
              <a:rPr sz="2000" dirty="0"/>
              <a:t> | Power BI | </a:t>
            </a:r>
            <a:r>
              <a:rPr sz="2000" dirty="0" err="1"/>
              <a:t>Matplotlib</a:t>
            </a:r>
            <a:endParaRPr sz="2000" dirty="0"/>
          </a:p>
          <a:p>
            <a:pPr>
              <a:spcBef>
                <a:spcPts val="3000"/>
              </a:spcBef>
              <a:defRPr sz="1200">
                <a:solidFill>
                  <a:srgbClr val="96A5BE"/>
                </a:solidFill>
              </a:defRPr>
            </a:pPr>
            <a:r>
              <a:rPr sz="1600" dirty="0" err="1"/>
              <a:t>Bluestock</a:t>
            </a:r>
            <a:r>
              <a:rPr sz="1600" dirty="0"/>
              <a:t> </a:t>
            </a:r>
            <a:r>
              <a:rPr sz="1600" dirty="0" err="1"/>
              <a:t>Fintech</a:t>
            </a:r>
            <a:r>
              <a:rPr sz="1600" dirty="0"/>
              <a:t> Pvt. Ltd. — Capstone Presentation Review —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1501</Words>
  <Application>Microsoft Office PowerPoint</Application>
  <PresentationFormat>Widescreen</PresentationFormat>
  <Paragraphs>80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Hello</cp:lastModifiedBy>
  <cp:revision>2</cp:revision>
  <dcterms:created xsi:type="dcterms:W3CDTF">2013-01-27T09:14:16Z</dcterms:created>
  <dcterms:modified xsi:type="dcterms:W3CDTF">2026-06-11T07:19:32Z</dcterms:modified>
  <cp:category/>
</cp:coreProperties>
</file>